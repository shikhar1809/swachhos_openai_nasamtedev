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bb6c3548d6482d" /><Relationship Type="http://schemas.openxmlformats.org/officeDocument/2006/relationships/extended-properties" Target="/docProps/app.xml" Id="Rbda437f16aaf4eca" /><Relationship Type="http://schemas.openxmlformats.org/officeDocument/2006/relationships/officeDocument" Target="/ppt/presentation.xml" Id="R7b51350a8aad428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89c49e02b74574"/>
  </p:sldMasterIdLst>
  <p:notesMasterIdLst>
    <p:notesMasterId xmlns:r="http://schemas.openxmlformats.org/officeDocument/2006/relationships" r:id="Rcbde459ab7544a8d"/>
  </p:notesMasterIdLst>
  <p:sldIdLst>
    <p:sldId xmlns:r="http://schemas.openxmlformats.org/officeDocument/2006/relationships" id="256" r:id="Red28bcb2213f4765"/>
    <p:sldId xmlns:r="http://schemas.openxmlformats.org/officeDocument/2006/relationships" id="257" r:id="R412e9306aabb4daa"/>
    <p:sldId xmlns:r="http://schemas.openxmlformats.org/officeDocument/2006/relationships" id="258" r:id="R401cb79ab62f4497"/>
    <p:sldId xmlns:r="http://schemas.openxmlformats.org/officeDocument/2006/relationships" id="259" r:id="R9276e63f3e904ba2"/>
    <p:sldId xmlns:r="http://schemas.openxmlformats.org/officeDocument/2006/relationships" id="260" r:id="R7d8ba8b05e11434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3ff45d69de74afb" /><Relationship Type="http://schemas.openxmlformats.org/officeDocument/2006/relationships/slideMaster" Target="/ppt/slideMasters/slideMaster1.xml" Id="R0089c49e02b74574" /><Relationship Type="http://schemas.openxmlformats.org/officeDocument/2006/relationships/notesMaster" Target="/ppt/notesMasters/notesMaster1.xml" Id="Rcbde459ab7544a8d" /><Relationship Type="http://schemas.openxmlformats.org/officeDocument/2006/relationships/presProps" Target="/ppt/presProps.xml" Id="R362a7b9977ee49e8" /><Relationship Type="http://schemas.openxmlformats.org/officeDocument/2006/relationships/tableStyles" Target="/ppt/tableStyles.xml" Id="Rbf18fcfe50ac4a02" /><Relationship Type="http://schemas.openxmlformats.org/officeDocument/2006/relationships/slide" Target="/ppt/slides/slide1.xml" Id="Red28bcb2213f4765" /><Relationship Type="http://schemas.openxmlformats.org/officeDocument/2006/relationships/slide" Target="/ppt/slides/slide2.xml" Id="R412e9306aabb4daa" /><Relationship Type="http://schemas.openxmlformats.org/officeDocument/2006/relationships/slide" Target="/ppt/slides/slide3.xml" Id="R401cb79ab62f4497" /><Relationship Type="http://schemas.openxmlformats.org/officeDocument/2006/relationships/slide" Target="/ppt/slides/slide4.xml" Id="R9276e63f3e904ba2" /><Relationship Type="http://schemas.openxmlformats.org/officeDocument/2006/relationships/slide" Target="/ppt/slides/slide5.xml" Id="R7d8ba8b05e1143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ee03a129c74a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bac0b8c1f140e5" /><Relationship Type="http://schemas.openxmlformats.org/officeDocument/2006/relationships/notesMaster" Target="/ppt/notesMasters/notesMaster1.xml" Id="Ra353059aa5f54a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fb756fd448f4246" /><Relationship Type="http://schemas.openxmlformats.org/officeDocument/2006/relationships/notesMaster" Target="/ppt/notesMasters/notesMaster1.xml" Id="R7c61a031106540f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4d79a3c803749ee" /><Relationship Type="http://schemas.openxmlformats.org/officeDocument/2006/relationships/notesMaster" Target="/ppt/notesMasters/notesMaster1.xml" Id="R6981853444af452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f157748381a4953" /><Relationship Type="http://schemas.openxmlformats.org/officeDocument/2006/relationships/notesMaster" Target="/ppt/notesMasters/notesMaster1.xml" Id="R0cea16f5806d4d4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e428cc4fa034ac7" /><Relationship Type="http://schemas.openxmlformats.org/officeDocument/2006/relationships/notesMaster" Target="/ppt/notesMasters/notesMaster1.xml" Id="Ra4e529384a7c450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ee0492c91441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27048ed47844da" /><Relationship Type="http://schemas.openxmlformats.org/officeDocument/2006/relationships/slideLayout" Target="/ppt/slideLayouts/slideLayout1.xml" Id="Rcd9852f5b5d84dd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9852f5b5d84dd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be2648665c4e7b" /><Relationship Type="http://schemas.openxmlformats.org/officeDocument/2006/relationships/image" Target="/ppt/media/image.png" Id="R5d8fdc5e5f6e483e" /><Relationship Type="http://schemas.openxmlformats.org/officeDocument/2006/relationships/notesSlide" Target="/ppt/notesSlides/notesSlide1.xml" Id="Rb3382dca4615403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c4c1b06a724773" /><Relationship Type="http://schemas.openxmlformats.org/officeDocument/2006/relationships/image" Target="/ppt/media/image2.png" Id="Rda114013b60b4f2d" /><Relationship Type="http://schemas.openxmlformats.org/officeDocument/2006/relationships/notesSlide" Target="/ppt/notesSlides/notesSlide2.xml" Id="Rd47d63bbefce4b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8dc00e9ecb441f" /><Relationship Type="http://schemas.openxmlformats.org/officeDocument/2006/relationships/image" Target="/ppt/media/image3.png" Id="R17abdd786ee44f39" /><Relationship Type="http://schemas.openxmlformats.org/officeDocument/2006/relationships/notesSlide" Target="/ppt/notesSlides/notesSlide3.xml" Id="Rcd884c2356ae4ed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2c007c62bd4ab5" /><Relationship Type="http://schemas.openxmlformats.org/officeDocument/2006/relationships/image" Target="/ppt/media/image4.png" Id="R07ff6a79dc9245f9" /><Relationship Type="http://schemas.openxmlformats.org/officeDocument/2006/relationships/image" Target="/ppt/media/image5.png" Id="R7d3ab7d7048f4e24" /><Relationship Type="http://schemas.openxmlformats.org/officeDocument/2006/relationships/notesSlide" Target="/ppt/notesSlides/notesSlide4.xml" Id="R61d52950c6134cd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70d67be97448e3" /><Relationship Type="http://schemas.openxmlformats.org/officeDocument/2006/relationships/image" Target="/ppt/media/image6.png" Id="R0fde346a82cd4c34" /><Relationship Type="http://schemas.openxmlformats.org/officeDocument/2006/relationships/notesSlide" Target="/ppt/notesSlides/notesSlide5.xml" Id="R2159e88e6e2d432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81F823-A41B-465D-B3AD-F73C5181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F46E5"/>
                </a:solidFill>
              </a:defRPr>
            </a:pPr>
            <a:r>
              <a:rPr sz="1200" b="1">
                <a:solidFill>
                  <a:srgbClr val="4F46E5"/>
                </a:solidFill>
              </a:rPr>
              <a:t>SwachhOS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C65107-5DF7-4B56-9E4C-6CC7DA19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2385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1 / Problem &amp; Solution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D124DB-E4C7-48F6-B04D-C31AC721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5334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Waste reports need one operating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8FC7B2-14BF-465B-8808-AB15E6008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5740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B7280"/>
                </a:solidFill>
              </a:defRPr>
            </a:pPr>
            <a:r>
              <a:rPr sz="1425">
                <a:solidFill>
                  <a:srgbClr val="6B7280"/>
                </a:solidFill>
              </a:rPr>
              <a:t>SwachhOS turns WhatsApp complaints, map clustering, cleanup assignment, and citizen feedback into one visible workflow.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F67C4F-F744-4DBA-BF3D-FC61198F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13144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0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531136-2483-4546-A747-0F8752E13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9525">
            <a:solidFill>
              <a:srgbClr val="4F46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471064-BE0A-4A3C-A80D-7E7EAAEF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86125"/>
            <a:ext cx="72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51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3235D6-D843-4EC0-A2E2-9383D6BC0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5760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B7280"/>
                </a:solidFill>
              </a:defRPr>
            </a:pPr>
            <a:r>
              <a:rPr sz="825" b="1">
                <a:solidFill>
                  <a:srgbClr val="6B7280"/>
                </a:solidFill>
              </a:rPr>
              <a:t>active points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6E15F9-822A-4811-A23D-049C25E3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143250"/>
            <a:ext cx="13144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0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017285-517E-4F86-BBF4-878AA5677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314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298E4F-6731-44BC-B326-D625AD805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86125"/>
            <a:ext cx="72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526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D7FF1E-27CD-430C-B193-BE2ADF59C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65760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B7280"/>
                </a:solidFill>
              </a:defRPr>
            </a:pPr>
            <a:r>
              <a:rPr sz="825" b="1">
                <a:solidFill>
                  <a:srgbClr val="6B7280"/>
                </a:solidFill>
              </a:rPr>
              <a:t>reports logged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82526E-7C92-4B8E-83AD-F2B9340A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143250"/>
            <a:ext cx="13144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0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FC1D25-24AF-4D82-B11C-CDA31CB2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314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D32C95-570B-4122-9D54-8DA03EE9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86125"/>
            <a:ext cx="72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57%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3018DF-05DE-4A2D-9965-F1A7EB745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65760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B7280"/>
                </a:solidFill>
              </a:defRPr>
            </a:pPr>
            <a:r>
              <a:rPr sz="825" b="1">
                <a:solidFill>
                  <a:srgbClr val="6B7280"/>
                </a:solidFill>
              </a:rPr>
              <a:t>match rate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2F4866-BD14-4E5C-87EE-6FC7B56A8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9525">
            <a:solidFill>
              <a:srgbClr val="4F46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CF7732-F2D7-4401-8951-75BCA3F9C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827"/>
                </a:solidFill>
              </a:defRPr>
            </a:pPr>
            <a:r>
              <a:rPr sz="1425">
                <a:solidFill>
                  <a:srgbClr val="111827"/>
                </a:solidFill>
              </a:rPr>
              <a:t>Reports arrive with photos and location signals.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AC81E3-8360-47EC-9E0A-50DAE2BD5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9525">
            <a:solidFill>
              <a:srgbClr val="4F46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AF4611-6D99-4AFA-9392-AA458E90E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2920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827"/>
                </a:solidFill>
              </a:defRPr>
            </a:pPr>
            <a:r>
              <a:rPr sz="1425">
                <a:solidFill>
                  <a:srgbClr val="111827"/>
                </a:solidFill>
              </a:rPr>
              <a:t>Repeat dump sites are grouped by severity instead of treated as isolated complaints.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B68C70-E661-4316-AC95-0C0380BED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9525">
            <a:solidFill>
              <a:srgbClr val="4F46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27DD5B-6ECF-4CF3-AAB4-164EAFF2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8165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827"/>
                </a:solidFill>
              </a:defRPr>
            </a:pPr>
            <a:r>
              <a:rPr sz="1425">
                <a:solidFill>
                  <a:srgbClr val="111827"/>
                </a:solidFill>
              </a:rPr>
              <a:t>Teams get a shared map for cleanup and follow-up.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6D582F-2E9D-4991-BD0E-2D4E597A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952500"/>
            <a:ext cx="542925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0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8fdc5e5f6e483e"/>
          <a:stretch xmlns:a="http://schemas.openxmlformats.org/drawingml/2006/main"/>
        </p:blipFill>
        <p:spPr>
          <a:xfrm xmlns:a="http://schemas.openxmlformats.org/drawingml/2006/main">
            <a:off x="6096000" y="1256109"/>
            <a:ext cx="5429250" cy="3393281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DA00D4-1C05-4B8D-8597-0734E8D72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197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B7280"/>
                </a:solidFill>
              </a:defRPr>
            </a:pPr>
            <a:r>
              <a:rPr sz="1350" b="1">
                <a:solidFill>
                  <a:srgbClr val="6B7280"/>
                </a:solidFill>
              </a:rPr>
              <a:t>Live feed + severity map + cleanup details</a:t>
            </a:r>
          </a:p>
        </p:txBody>
      </p:sp>
    </p:spTree>
    <p:extLst>
      <p:ext uri="{BB962C8B-B14F-4D97-AF65-F5344CB8AC3E}">
        <p14:creationId xmlns:p14="http://schemas.microsoft.com/office/powerpoint/2010/main" val="6627679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C1F852-F734-4A15-8C95-EFB780977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F46E5"/>
                </a:solidFill>
              </a:defRPr>
            </a:pPr>
            <a:r>
              <a:rPr sz="1200" b="1">
                <a:solidFill>
                  <a:srgbClr val="4F46E5"/>
                </a:solidFill>
              </a:rPr>
              <a:t>SwachhOS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A893D9-7F99-4CF4-87F4-B44370158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2385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2 / Target Users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58727C-314C-48A4-AECF-2E332B477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5334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Three user groups share the same source of truth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C91BA3-3198-4EAE-9A2F-7CC65E191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5740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B7280"/>
                </a:solidFill>
              </a:defRPr>
            </a:pPr>
            <a:r>
              <a:rPr sz="1425">
                <a:solidFill>
                  <a:srgbClr val="6B7280"/>
                </a:solidFill>
              </a:rPr>
              <a:t>The product connects people who report waste, supervisors who prioritize it, and field teams who resolve 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3ACB6B-FA28-4E8E-A6E1-37CDC5E8A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52850"/>
            <a:ext cx="2381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0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0A3413-65F5-4D4A-8732-65CA3971E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24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E891FA-7DC6-4A0D-89C5-33B0F1D3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528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3EDA1E-59C9-471F-842C-54377B1D0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052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Citizens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2AD068-B74B-4A43-B645-F0C6FC218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434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B7280"/>
                </a:solidFill>
              </a:defRPr>
            </a:pPr>
            <a:r>
              <a:rPr sz="1050">
                <a:solidFill>
                  <a:srgbClr val="6B7280"/>
                </a:solidFill>
              </a:rPr>
              <a:t>Report a dump point quickly through WhatsApp, without learning a new app.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6EEFFC-3200-45CA-8AEC-A712D11E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52850"/>
            <a:ext cx="2381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0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184E92-11BF-4739-B51B-42F3DC935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24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9525">
            <a:solidFill>
              <a:srgbClr val="4F46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0F5949-8075-4F5C-A01E-BCF15CE82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528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735A3D-BADC-41EE-9B02-326BE3C0D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9052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Municipal staff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1D8903-E867-49E3-8CDF-0269DB2F5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434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B7280"/>
                </a:solidFill>
              </a:defRPr>
            </a:pPr>
            <a:r>
              <a:rPr sz="1050">
                <a:solidFill>
                  <a:srgbClr val="6B7280"/>
                </a:solidFill>
              </a:rPr>
              <a:t>See recurring sites, severity, and weekly activity in one dashboard.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330AA4-8DD3-4380-8D94-1DC49105F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752850"/>
            <a:ext cx="2381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0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D05FA6-728C-4A00-B256-AB73DD56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924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6B24AB-2C9E-44A4-84DF-26D95A33A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9528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B52455-87B3-417A-B0CC-509B6D29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052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Cleanup teams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306CAD-B3DF-461D-9D3F-0475E1B1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3434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B7280"/>
                </a:solidFill>
              </a:defRPr>
            </a:pPr>
            <a:r>
              <a:rPr sz="1050">
                <a:solidFill>
                  <a:srgbClr val="6B7280"/>
                </a:solidFill>
              </a:rPr>
              <a:t>Receive zone-based assignments and close the loop with feedback.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DD1773-9121-4B64-A1EF-7035680E7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066800"/>
            <a:ext cx="3810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0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114013b60b4f2d"/>
          <a:stretch xmlns:a="http://schemas.openxmlformats.org/drawingml/2006/main"/>
        </p:blipFill>
        <p:spPr>
          <a:xfrm xmlns:a="http://schemas.openxmlformats.org/drawingml/2006/main">
            <a:off x="7810500" y="1066800"/>
            <a:ext cx="3810000" cy="2381250"/>
          </a:xfrm>
          <a:prstGeom xmlns:a="http://schemas.openxmlformats.org/drawingml/2006/main" prst="roundRect">
            <a:avLst>
              <a:gd name="adj" fmla="val 4800"/>
            </a:avLst>
          </a:prstGeom>
        </p:spPr>
      </p:pic>
    </p:spTree>
    <p:extLst>
      <p:ext uri="{BB962C8B-B14F-4D97-AF65-F5344CB8AC3E}">
        <p14:creationId xmlns:p14="http://schemas.microsoft.com/office/powerpoint/2010/main" val="15476682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8DE191-D902-4A0A-94E2-A4227293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F46E5"/>
                </a:solidFill>
              </a:defRPr>
            </a:pPr>
            <a:r>
              <a:rPr sz="1200" b="1">
                <a:solidFill>
                  <a:srgbClr val="4F46E5"/>
                </a:solidFill>
              </a:rPr>
              <a:t>SwachhOS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C5BF23-4DB4-4A1F-9053-4C097C4E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2385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3 / Scaling Strategy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6405AB-2AEA-4305-BE2C-7E73508D9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5334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Scale by adding zones, not by adding complexity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A9A74B-33C2-4841-87AC-E6904E8E2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5740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B7280"/>
                </a:solidFill>
              </a:defRPr>
            </a:pPr>
            <a:r>
              <a:rPr sz="1425">
                <a:solidFill>
                  <a:srgbClr val="6B7280"/>
                </a:solidFill>
              </a:rPr>
              <a:t>The same model can expand from one city pilot to ward-level operations and then to multiple municipalities.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9AAC28-2ACA-4410-89AB-829DA5134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2381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0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B55CD0-1C97-48FA-9020-D8D596679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9525">
            <a:solidFill>
              <a:srgbClr val="4F46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EBBC46-5D8F-4AF1-B75D-9AE3F5D06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385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8E99DD-6233-454E-B89D-68579C8EC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909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Pilot one city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7333D4-8F46-4F8B-986E-C6E03569A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B7280"/>
                </a:solidFill>
              </a:defRPr>
            </a:pPr>
            <a:r>
              <a:rPr sz="1050">
                <a:solidFill>
                  <a:srgbClr val="6B7280"/>
                </a:solidFill>
              </a:rPr>
              <a:t>Start with Lucknow-style dump points, WhatsApp intake, and supervisor dashboards.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5CEE98-4DCF-4C0E-A529-A60C5213E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638550"/>
            <a:ext cx="2381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0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6994D5-A61D-4E2B-AEF5-EA7A712CF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810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84E587-2725-40C6-9493-2E3942FD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8385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573705-2606-48EA-A72A-6728C79CD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7909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Standardize zones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2A0A06-859B-4D5B-A54B-3600B3DE8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2291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B7280"/>
                </a:solidFill>
              </a:defRPr>
            </a:pPr>
            <a:r>
              <a:rPr sz="1050">
                <a:solidFill>
                  <a:srgbClr val="6B7280"/>
                </a:solidFill>
              </a:rPr>
              <a:t>Use hex-grid zones so team assignment and reporting stay comparable across wards.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A4D115-40A6-4D07-8239-4B7F241CC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638550"/>
            <a:ext cx="2381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0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3F43AB-932E-4487-98E4-20D92AF2F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810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A87187-28CD-4539-B0C4-96D05843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8385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9C9A9F-E256-41E1-93C6-903D77C8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909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Replicate playbook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807DAD-ED9E-44CD-AD06-BBC1EC6BB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2291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B7280"/>
                </a:solidFill>
              </a:defRPr>
            </a:pPr>
            <a:r>
              <a:rPr sz="1050">
                <a:solidFill>
                  <a:srgbClr val="6B7280"/>
                </a:solidFill>
              </a:rPr>
              <a:t>Package templates, thresholds, and reports for new colleges or municipal partners.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B1E1F9-043F-4229-95EE-1471A3110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53100"/>
            <a:ext cx="733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Scaling lever: a familiar channel plus repeatable geospatial zoning.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27B335-9BE4-4534-8C67-7F614527C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066800"/>
            <a:ext cx="3810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0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abdd786ee44f39"/>
          <a:stretch xmlns:a="http://schemas.openxmlformats.org/drawingml/2006/main"/>
        </p:blipFill>
        <p:spPr>
          <a:xfrm xmlns:a="http://schemas.openxmlformats.org/drawingml/2006/main">
            <a:off x="7810500" y="1066800"/>
            <a:ext cx="3810000" cy="2381250"/>
          </a:xfrm>
          <a:prstGeom xmlns:a="http://schemas.openxmlformats.org/drawingml/2006/main" prst="roundRect">
            <a:avLst>
              <a:gd name="adj" fmla="val 4800"/>
            </a:avLst>
          </a:prstGeom>
        </p:spPr>
      </p:pic>
    </p:spTree>
    <p:extLst>
      <p:ext uri="{BB962C8B-B14F-4D97-AF65-F5344CB8AC3E}">
        <p14:creationId xmlns:p14="http://schemas.microsoft.com/office/powerpoint/2010/main" val="20309870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9A8639-D76E-4693-B9F9-76E53CEB5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F46E5"/>
                </a:solidFill>
              </a:defRPr>
            </a:pPr>
            <a:r>
              <a:rPr sz="1200" b="1">
                <a:solidFill>
                  <a:srgbClr val="4F46E5"/>
                </a:solidFill>
              </a:rPr>
              <a:t>SwachhOS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6838D8-5EF3-42E2-BC39-F61740CA6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2385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4 / Implementation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66C0A8-9284-4C2A-9424-E95C735AB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5334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Build the cleanup loop in four releases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6F0012-A6D5-4E63-BEB0-DF220C845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5740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B7280"/>
                </a:solidFill>
              </a:defRPr>
            </a:pPr>
            <a:r>
              <a:rPr sz="1425">
                <a:solidFill>
                  <a:srgbClr val="6B7280"/>
                </a:solidFill>
              </a:rPr>
              <a:t>Each release produces something evaluators can test: intake, dashboarding, dispatch, then automated feedback.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B255A3-A161-4280-AD69-8CDF0F2D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19550"/>
            <a:ext cx="2381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0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71760F-A137-4591-A116-CDE71CCD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C7FEF2-76AD-402F-94FD-25EAADAF7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95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26D2FA-1EDF-410F-808B-F0219CFE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719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Data intake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C7839E-32BD-4618-AAB5-163ADA7B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01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B7280"/>
                </a:solidFill>
              </a:defRPr>
            </a:pPr>
            <a:r>
              <a:rPr sz="1050">
                <a:solidFill>
                  <a:srgbClr val="6B7280"/>
                </a:solidFill>
              </a:rPr>
              <a:t>WhatsApp report capture, Firestore sync, photo and GPS fields.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ACD077-DE76-42BE-A9F7-045A94CD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019550"/>
            <a:ext cx="2381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0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C8EC1A-A0AE-4E91-A780-AD64CB93A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191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389DAD-909A-43A2-8BCC-0DCB878B2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2195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0D4ACA-D376-44D9-A437-4B865577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1719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Detection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780B4F-4C2D-44CA-8955-4A2D92F77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6101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B7280"/>
                </a:solidFill>
              </a:defRPr>
            </a:pPr>
            <a:r>
              <a:rPr sz="1050">
                <a:solidFill>
                  <a:srgbClr val="6B7280"/>
                </a:solidFill>
              </a:rPr>
              <a:t>Map clustering, severity filters, duplicate and rejected report states.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A6CBD0-38D9-45FD-B0E0-1C3D5867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019550"/>
            <a:ext cx="2381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0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265ED8-E579-4C81-B752-8A2EF932D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191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9525">
            <a:solidFill>
              <a:srgbClr val="4F46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5608E1-AC4C-4AD8-A6CB-6F2147AD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2195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C5AE97-01D7-47AA-B2F4-AB352D61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1719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Operations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2FE28D-4059-4124-9B56-6F5A30E2B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6101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B7280"/>
                </a:solidFill>
              </a:defRPr>
            </a:pPr>
            <a:r>
              <a:rPr sz="1050">
                <a:solidFill>
                  <a:srgbClr val="6B7280"/>
                </a:solidFill>
              </a:rPr>
              <a:t>AI/local priority ranking and team-zone assignment workflow.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8A25ED-9C69-441E-890B-C2841CD4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019550"/>
            <a:ext cx="2381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0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5D69A5-AE1A-49C0-9313-F9971E974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191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1487D2-57B2-4B14-A9C6-DB60B641B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2195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AA770B-CE8D-4783-B57B-D491CF942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1719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Closure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3E2512-F885-44D4-A538-FC7B991E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6101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B7280"/>
                </a:solidFill>
              </a:defRPr>
            </a:pPr>
            <a:r>
              <a:rPr sz="1050">
                <a:solidFill>
                  <a:srgbClr val="6B7280"/>
                </a:solidFill>
              </a:rPr>
              <a:t>Feedback templates, rating dashboard, and response-rate tracking.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A71674-8017-41F5-9ADD-92F6E66E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914400"/>
            <a:ext cx="278130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0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ff6a79dc9245f9"/>
          <a:stretch xmlns:a="http://schemas.openxmlformats.org/drawingml/2006/main"/>
        </p:blipFill>
        <p:spPr>
          <a:xfrm xmlns:a="http://schemas.openxmlformats.org/drawingml/2006/main">
            <a:off x="5772150" y="1178719"/>
            <a:ext cx="2781300" cy="1738313"/>
          </a:xfrm>
          <a:prstGeom xmlns:a="http://schemas.openxmlformats.org/drawingml/2006/main" prst="roundRect">
            <a:avLst>
              <a:gd name="adj" fmla="val 5042"/>
            </a:avLst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1BB715-013D-461C-8A4E-7137EB44C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914400"/>
            <a:ext cx="278130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0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3ab7d7048f4e24"/>
          <a:stretch xmlns:a="http://schemas.openxmlformats.org/drawingml/2006/main"/>
        </p:blipFill>
        <p:spPr>
          <a:xfrm xmlns:a="http://schemas.openxmlformats.org/drawingml/2006/main">
            <a:off x="8782050" y="1178719"/>
            <a:ext cx="2781300" cy="1738313"/>
          </a:xfrm>
          <a:prstGeom xmlns:a="http://schemas.openxmlformats.org/drawingml/2006/main" prst="roundRect">
            <a:avLst>
              <a:gd name="adj" fmla="val 5042"/>
            </a:avLst>
          </a:prstGeom>
        </p:spPr>
      </p:pic>
    </p:spTree>
    <p:extLst>
      <p:ext uri="{BB962C8B-B14F-4D97-AF65-F5344CB8AC3E}">
        <p14:creationId xmlns:p14="http://schemas.microsoft.com/office/powerpoint/2010/main" val="14770311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043C97-1544-4A4B-8019-FF6905693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F46E5"/>
                </a:solidFill>
              </a:defRPr>
            </a:pPr>
            <a:r>
              <a:rPr sz="1200" b="1">
                <a:solidFill>
                  <a:srgbClr val="4F46E5"/>
                </a:solidFill>
              </a:rPr>
              <a:t>SwachhOS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D16001-3CA0-432A-89B1-335FA3146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2385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280"/>
                </a:solidFill>
              </a:defRPr>
            </a:pPr>
            <a:r>
              <a:rPr sz="900" b="1">
                <a:solidFill>
                  <a:srgbClr val="6B7280"/>
                </a:solidFill>
              </a:rPr>
              <a:t>5 / Risks &amp; Mitigation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0C8B22-FBBD-484B-9E17-A341AB5C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5334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The plan is strongest when weak points are visible early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BFBB62-8A9A-4CF8-9F2C-B30202263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5740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B7280"/>
                </a:solidFill>
              </a:defRPr>
            </a:pPr>
            <a:r>
              <a:rPr sz="1425">
                <a:solidFill>
                  <a:srgbClr val="6B7280"/>
                </a:solidFill>
              </a:rPr>
              <a:t>SwachhOS should be judged as a practical prototype: it already has fallback states, mock data, and operational controls for demo reliability.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2C6E42-6ABB-4577-9BBF-514AA496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05150"/>
            <a:ext cx="6858000" cy="27813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0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A68871-4FF6-4239-944D-1A31A72C0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B7280"/>
                </a:solidFill>
              </a:defRPr>
            </a:pPr>
            <a:r>
              <a:rPr sz="1200" b="1">
                <a:solidFill>
                  <a:srgbClr val="6B7280"/>
                </a:solidFill>
              </a:rPr>
              <a:t>Risk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4BA3A3-2246-47D5-A3E9-71152054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3337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B7280"/>
                </a:solidFill>
              </a:defRPr>
            </a:pPr>
            <a:r>
              <a:rPr sz="1200" b="1">
                <a:solidFill>
                  <a:srgbClr val="6B7280"/>
                </a:solidFill>
              </a:rPr>
              <a:t>Mitigation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38ADEF-865A-4FCC-86F4-2CBD6AE81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3855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4"/>
          </a:solidFill>
          <a:ln xmlns:a="http://schemas.openxmlformats.org/drawingml/2006/main" w="9525">
            <a:solidFill>
              <a:srgbClr val="EDF0F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6861C5-5FF5-4DA3-B374-61A58511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33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Low-quality reports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E1EB68-DB8A-4ECB-8BD7-C5F4C626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7338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B7280"/>
                </a:solidFill>
              </a:defRPr>
            </a:pPr>
            <a:r>
              <a:rPr sz="1200">
                <a:solidFill>
                  <a:srgbClr val="6B7280"/>
                </a:solidFill>
              </a:rPr>
              <a:t>Use rejected states, duplicate checks, and photo/GPS validation.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B93E19-8842-41D4-ACCB-DEC06F1E3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3385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4"/>
          </a:solidFill>
          <a:ln xmlns:a="http://schemas.openxmlformats.org/drawingml/2006/main" w="9525">
            <a:solidFill>
              <a:srgbClr val="EDF0F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C8C066-4A33-43CB-A226-90E6900D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291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AI/API downtime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822524-2C9A-4D51-BB0D-AA968258C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2291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B7280"/>
                </a:solidFill>
              </a:defRPr>
            </a:pPr>
            <a:r>
              <a:rPr sz="1200">
                <a:solidFill>
                  <a:srgbClr val="6B7280"/>
                </a:solidFill>
              </a:rPr>
              <a:t>Keep local priority scoring so the dashboard never goes blank.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FDE73D-C168-4153-9021-97CDFDB4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2915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4"/>
          </a:solidFill>
          <a:ln xmlns:a="http://schemas.openxmlformats.org/drawingml/2006/main" w="9525">
            <a:solidFill>
              <a:srgbClr val="EDF0F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4B9F22-A65F-44C6-8353-CEF16DFA1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24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Team adoption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152902-8A24-48F1-8905-7FDBC3A0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7244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B7280"/>
                </a:solidFill>
              </a:defRPr>
            </a:pPr>
            <a:r>
              <a:rPr sz="1200">
                <a:solidFill>
                  <a:srgbClr val="6B7280"/>
                </a:solidFill>
              </a:rPr>
              <a:t>Use ward-style zones and simple assignment controls.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24DE77-2F4A-4566-A8D6-CAED4EC6B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2445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4"/>
          </a:solidFill>
          <a:ln xmlns:a="http://schemas.openxmlformats.org/drawingml/2006/main" w="9525">
            <a:solidFill>
              <a:srgbClr val="EDF0F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02E3D9-ADFD-4707-9C40-839B8E2FE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197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Data privacy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379C4B-9608-4B93-BC30-658733534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197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B7280"/>
                </a:solidFill>
              </a:defRPr>
            </a:pPr>
            <a:r>
              <a:rPr sz="1200">
                <a:solidFill>
                  <a:srgbClr val="6B7280"/>
                </a:solidFill>
              </a:rPr>
              <a:t>Mask phone numbers and store only needed report metadata.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9344D7-610E-4258-9574-9535BE1B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428750"/>
            <a:ext cx="36195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0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de346a82cd4c34"/>
          <a:stretch xmlns:a="http://schemas.openxmlformats.org/drawingml/2006/main"/>
        </p:blipFill>
        <p:spPr>
          <a:xfrm xmlns:a="http://schemas.openxmlformats.org/drawingml/2006/main">
            <a:off x="7867650" y="1726406"/>
            <a:ext cx="3619500" cy="2262188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F8E951-3C1F-41EB-9EA9-A8163944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533900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Visible fallback behavior keeps the demo credible even when external services slow down.</a:t>
            </a:r>
          </a:p>
        </p:txBody>
      </p:sp>
    </p:spTree>
    <p:extLst>
      <p:ext uri="{BB962C8B-B14F-4D97-AF65-F5344CB8AC3E}">
        <p14:creationId xmlns:p14="http://schemas.microsoft.com/office/powerpoint/2010/main" val="11321092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2026-07-08T11:57:54.4860000Z</dcterms:created>
  <dcterms:modified xsi:type="dcterms:W3CDTF">2026-07-08T11:57:54.4860000Z</dcterms:modified>
</coreProperties>
</file>